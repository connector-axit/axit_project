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정확도와 응답시간 비교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Top-5 정확도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Keyword</c:v>
                  </c:pt>
                  <c:pt idx="1">
                    <c:v>Dense</c:v>
                  </c:pt>
                  <c:pt idx="2">
                    <c:v>Hybrid</c:v>
                  </c:pt>
                  <c:pt idx="3">
                    <c:v>Hybrid+Rerank</c:v>
                  </c:pt>
                  <c:pt idx="4">
                    <c:v>Hybrid+Light Rerank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61</c:v>
                </c:pt>
                <c:pt idx="1">
                  <c:v>78</c:v>
                </c:pt>
                <c:pt idx="2">
                  <c:v>84</c:v>
                </c:pt>
                <c:pt idx="3">
                  <c:v>89</c:v>
                </c:pt>
                <c:pt idx="4">
                  <c:v>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응답시간(초)×20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Keyword</c:v>
                  </c:pt>
                  <c:pt idx="1">
                    <c:v>Dense</c:v>
                  </c:pt>
                  <c:pt idx="2">
                    <c:v>Hybrid</c:v>
                  </c:pt>
                  <c:pt idx="3">
                    <c:v>Hybrid+Rerank</c:v>
                  </c:pt>
                  <c:pt idx="4">
                    <c:v>Hybrid+Light Rerank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24</c:v>
                </c:pt>
                <c:pt idx="1">
                  <c:v>42</c:v>
                </c:pt>
                <c:pt idx="2">
                  <c:v>52</c:v>
                </c:pt>
                <c:pt idx="3">
                  <c:v>62</c:v>
                </c:pt>
                <c:pt idx="4">
                  <c:v>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777240"/>
            <a:ext cx="63550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회의 지식검색용 RAG 시스템 도입안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49808" y="1481328"/>
            <a:ext cx="53035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4 — 전략/추진계획 PPT 자료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49808" y="1956816"/>
            <a:ext cx="6126480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DOCX · PDF · HWP · PNG에 이어 슬라이드 형식에서만 확인 가능한 일정, 권한, 의사결정 기준을 추가합니다.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2999232"/>
            <a:ext cx="30175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999232"/>
            <a:ext cx="301752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00400"/>
            <a:ext cx="268833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범위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688336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고객지원팀과 기획팀을 우선 대상으로 선정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 3,000건부터 권한 검증 후 확장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4069080" y="2999232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69080" y="2999232"/>
            <a:ext cx="3246120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33672" y="3200400"/>
            <a:ext cx="291693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게이트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33672" y="3566160"/>
            <a:ext cx="2916936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86% 이상 · 응답 3초 이하 · 월 180만원 이하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표시율은 95% 이상 유지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7635240" y="2999232"/>
            <a:ext cx="34747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35240" y="2999232"/>
            <a:ext cx="3474720" cy="914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9832" y="3200400"/>
            <a:ext cx="314553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원칙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99832" y="3566160"/>
            <a:ext cx="3145536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전체 공개가 아니라 부서별 ACL 기반으로 단계 배포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 수동 검색으로 즉시 전환</a:t>
            </a:r>
            <a:endParaRPr lang="en-US" sz="1240" dirty="0"/>
          </a:p>
        </p:txBody>
      </p:sp>
      <p:pic>
        <p:nvPicPr>
          <p:cNvPr id="17" name="Image 0" descr="/mnt/data/llm_meeting_test_set/사람6_RAG운영KPI_이미지.jpeg">    </p:cNvPr>
          <p:cNvPicPr>
            <a:picLocks noChangeAspect="1"/>
          </p:cNvPicPr>
          <p:nvPr/>
        </p:nvPicPr>
        <p:blipFill>
          <a:blip r:embed="rId1"/>
          <a:srcRect l="0" r="0" t="5017" b="5017"/>
          <a:stretch/>
        </p:blipFill>
        <p:spPr>
          <a:xfrm>
            <a:off x="7818120" y="658368"/>
            <a:ext cx="3611880" cy="18288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915400" y="6510528"/>
            <a:ext cx="2514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멀티포맷 테스트 자료 |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5039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정의와 도입 목표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80467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회의록 검색은 키워드 중심이라 의사결정 근거와 최신 맥락을 놓치기 쉽습니다.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21792" y="1298448"/>
            <a:ext cx="10927080" cy="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33375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00200"/>
            <a:ext cx="333756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801368"/>
            <a:ext cx="300837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문제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" y="2167128"/>
            <a:ext cx="3008376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회의록·문서·이미지가 분리되어 검색됨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같은 안건의 수치가 문서마다 다르게 표현됨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권한이 섞인 문단을 그대로 답변할 위험 존재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33375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600200"/>
            <a:ext cx="333756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801368"/>
            <a:ext cx="300837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목표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99432" y="2167128"/>
            <a:ext cx="3008376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답변마다 원문 근거와 파일 출처 표시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Top-20 후보를 재정렬해 Top-5 근거 제공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신규 회의록은 24시간 이내 반영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8183880" y="1600200"/>
            <a:ext cx="28346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600200"/>
            <a:ext cx="2834640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1801368"/>
            <a:ext cx="250545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기준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48472" y="2167128"/>
            <a:ext cx="2505456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Top-5 정확도 86% 이상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응답 지연 3초 이하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월 운영비 180만원 이하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근거 표시율 95% 이상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713232" y="3977640"/>
            <a:ext cx="2926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 질문 예시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49808" y="4434840"/>
            <a:ext cx="100584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“문서 수가 15,000건, 3,000건, 12,400건으로 다르게 나오는데 무엇이 맞나?”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전체 대상, 파일럿 범위, 중복 제거 후 유효 문서를 구분해야 합니다.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49808" y="5504688"/>
            <a:ext cx="393192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559552"/>
            <a:ext cx="378561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테스트 포인트: 충돌 수치 해석 + 근거 파일 연결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915400" y="6510528"/>
            <a:ext cx="2514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멀티포맷 테스트 자료 |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5039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아키텍처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80467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정확도만 높이는 것이 아니라 권한, 최신화, fallback까지 운영 단위로 설계합니다.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21792" y="1298448"/>
            <a:ext cx="10927080" cy="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91640"/>
            <a:ext cx="19659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91640"/>
            <a:ext cx="196596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892808"/>
            <a:ext cx="163677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수집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" y="2258568"/>
            <a:ext cx="163677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DOCX·PDF·HWP·이미지·PPTX·XLSX를 문서 단위로 수집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2926080" y="1691640"/>
            <a:ext cx="19659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1691640"/>
            <a:ext cx="196596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0672" y="1892808"/>
            <a:ext cx="163677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정제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90672" y="2258568"/>
            <a:ext cx="163677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제거 후 12,400건 유효 문서로 관리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5166360" y="1691640"/>
            <a:ext cx="19659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66360" y="1691640"/>
            <a:ext cx="1965960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30952" y="1892808"/>
            <a:ext cx="163677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30952" y="2258568"/>
            <a:ext cx="163677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Dense + Keyword로 Top-20 후보 검색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7406640" y="1691640"/>
            <a:ext cx="19659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6640" y="1691640"/>
            <a:ext cx="196596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71232" y="1892808"/>
            <a:ext cx="163677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재정렬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571232" y="2258568"/>
            <a:ext cx="163677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Light Rerank로 Top-5 근거 선별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9646920" y="1691640"/>
            <a:ext cx="19659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46920" y="1691640"/>
            <a:ext cx="1965960" cy="914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11512" y="1892808"/>
            <a:ext cx="163677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응답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811512" y="2258568"/>
            <a:ext cx="163677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표시 95% 이상, 실패 시 수동 검색 전환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731520" y="3703320"/>
            <a:ext cx="2286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운영상 추가 조건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49808" y="4160520"/>
            <a:ext cx="102412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문단 단위 ACL 적용  ② 로그 기반 실패 질문 수집  ③ 매주 평가셋 업데이트  ④ 보안팀 승인 전 전체 공개 금지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9808" y="4892040"/>
            <a:ext cx="2560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슬라이드의 고유 정보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49808" y="5285232"/>
            <a:ext cx="97840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PPTX 자료에서만 고객지원팀·기획팀 우선 파일럿과 Top-20→Top-5 운영 흐름이 명시됩니다.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915400" y="6510528"/>
            <a:ext cx="2514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멀티포맷 테스트 자료 |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5039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방식 비교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80467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최고안과 운영 승인안을 구분해서 읽어야 합니다.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21792" y="1298448"/>
            <a:ext cx="10927080" cy="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85800" y="1600200"/>
          <a:ext cx="658368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627632"/>
            <a:ext cx="3429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35240" y="1627632"/>
            <a:ext cx="3429000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99832" y="1828800"/>
            <a:ext cx="309981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승인안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99832" y="2194560"/>
            <a:ext cx="309981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Hybrid+Light Rerank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87% · 응답 2.8초 · 월 178만원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기준 3가지를 모두 만족</a:t>
            </a:r>
            <a:endParaRPr lang="en-US" sz="1240" dirty="0"/>
          </a:p>
        </p:txBody>
      </p:sp>
      <p:sp>
        <p:nvSpPr>
          <p:cNvPr id="10" name="Shape 7"/>
          <p:cNvSpPr/>
          <p:nvPr/>
        </p:nvSpPr>
        <p:spPr>
          <a:xfrm>
            <a:off x="7635240" y="3273552"/>
            <a:ext cx="3429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35240" y="3273552"/>
            <a:ext cx="342900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99832" y="3474720"/>
            <a:ext cx="309981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최고안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799832" y="3840480"/>
            <a:ext cx="309981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Hybrid+Rerank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89%로 가장 높지만 월 190만원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비용 상한 초과</a:t>
            </a:r>
            <a:endParaRPr lang="en-US" sz="1240" dirty="0"/>
          </a:p>
        </p:txBody>
      </p:sp>
      <p:sp>
        <p:nvSpPr>
          <p:cNvPr id="14" name="Text 11"/>
          <p:cNvSpPr/>
          <p:nvPr/>
        </p:nvSpPr>
        <p:spPr>
          <a:xfrm>
            <a:off x="713232" y="5257800"/>
            <a:ext cx="11887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주의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057400" y="5257800"/>
            <a:ext cx="8321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“가장 정확한 방식”과 “운영 승인에 적합한 방식”을 혼동하면 오답입니다.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915400" y="6510528"/>
            <a:ext cx="2514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멀티포맷 테스트 자료 |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5039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일정과 리스크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80467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2개 부서에서 시작해 보안·비용·품질 게이트를 통과할 때만 확장합니다.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21792" y="1298448"/>
            <a:ext cx="10927080" cy="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0200"/>
            <a:ext cx="1481328" cy="292608"/>
          </a:xfrm>
          <a:prstGeom prst="rect">
            <a:avLst/>
          </a:prstGeom>
          <a:solidFill>
            <a:srgbClr val="DDEB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endParaRPr lang="en-US" sz="1040" dirty="0"/>
          </a:p>
        </p:txBody>
      </p:sp>
      <p:sp>
        <p:nvSpPr>
          <p:cNvPr id="6" name="Text 4"/>
          <p:cNvSpPr/>
          <p:nvPr/>
        </p:nvSpPr>
        <p:spPr>
          <a:xfrm>
            <a:off x="2267712" y="1600200"/>
            <a:ext cx="1161288" cy="292608"/>
          </a:xfrm>
          <a:prstGeom prst="rect">
            <a:avLst/>
          </a:prstGeom>
          <a:solidFill>
            <a:srgbClr val="DDEB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3566160" y="1600200"/>
            <a:ext cx="1755648" cy="292608"/>
          </a:xfrm>
          <a:prstGeom prst="rect">
            <a:avLst/>
          </a:prstGeom>
          <a:solidFill>
            <a:srgbClr val="DDEB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5468112" y="1600200"/>
            <a:ext cx="2011680" cy="292608"/>
          </a:xfrm>
          <a:prstGeom prst="rect">
            <a:avLst/>
          </a:prstGeom>
          <a:solidFill>
            <a:srgbClr val="DDEB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기준</a:t>
            </a:r>
            <a:endParaRPr lang="en-US" sz="1040" dirty="0"/>
          </a:p>
        </p:txBody>
      </p:sp>
      <p:sp>
        <p:nvSpPr>
          <p:cNvPr id="9" name="Text 7"/>
          <p:cNvSpPr/>
          <p:nvPr/>
        </p:nvSpPr>
        <p:spPr>
          <a:xfrm>
            <a:off x="685800" y="2011680"/>
            <a:ext cx="1481328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정제/권한 매핑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2267712" y="2011680"/>
            <a:ext cx="1161288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8/12–8/25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3566160" y="2011680"/>
            <a:ext cx="1755648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제거·문단 ACL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5468112" y="2011680"/>
            <a:ext cx="20116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 문서 12,400건 확정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685800" y="2423160"/>
            <a:ext cx="1481328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검색 품질 실험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2267712" y="2423160"/>
            <a:ext cx="1161288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8/26–9/06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3566160" y="2423160"/>
            <a:ext cx="1755648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120개 평가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5468112" y="2423160"/>
            <a:ext cx="20116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86% 이상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685800" y="2834640"/>
            <a:ext cx="1481328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부서 파일럿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2267712" y="2834640"/>
            <a:ext cx="1161288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9/09–9/27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3566160" y="2834640"/>
            <a:ext cx="1755648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고객지원팀·기획팀 적용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5468112" y="2834640"/>
            <a:ext cx="20116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표시율 95% 이상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685800" y="3246120"/>
            <a:ext cx="1481328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확장 심사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2267712" y="3246120"/>
            <a:ext cx="1161288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9/30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566160" y="3246120"/>
            <a:ext cx="1755648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 확대 여부 결정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5468112" y="3246120"/>
            <a:ext cx="20116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비용 180만원 이하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8001000" y="1600200"/>
            <a:ext cx="324612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01000" y="1600200"/>
            <a:ext cx="324612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65592" y="1801368"/>
            <a:ext cx="291693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리스크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165592" y="2167128"/>
            <a:ext cx="2916936" cy="1307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권한 누락: 문서 단위가 아니라 문단 단위 ACL 필요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비용 초과: Full Rerank 사용량 증가 시 180만원 초과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최신성: 신규 회의록 반영이 24시간 이상 지연될 수 있음</a:t>
            </a:r>
            <a:endParaRPr lang="en-US" sz="1240" dirty="0"/>
          </a:p>
        </p:txBody>
      </p:sp>
      <p:sp>
        <p:nvSpPr>
          <p:cNvPr id="29" name="Shape 27"/>
          <p:cNvSpPr/>
          <p:nvPr/>
        </p:nvSpPr>
        <p:spPr>
          <a:xfrm>
            <a:off x="685800" y="4251960"/>
            <a:ext cx="49834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4251960"/>
            <a:ext cx="498348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" y="4453128"/>
            <a:ext cx="465429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 요청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50392" y="4818888"/>
            <a:ext cx="465429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 30일 확장 심사 전까지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평가셋 120문항 승인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비용 상한 180만원 확정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보안팀 ACL 검수 완료</a:t>
            </a:r>
            <a:endParaRPr lang="en-US" sz="1240" dirty="0"/>
          </a:p>
        </p:txBody>
      </p:sp>
      <p:sp>
        <p:nvSpPr>
          <p:cNvPr id="33" name="Shape 31"/>
          <p:cNvSpPr/>
          <p:nvPr/>
        </p:nvSpPr>
        <p:spPr>
          <a:xfrm>
            <a:off x="6144768" y="4251960"/>
            <a:ext cx="510235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44768" y="4251960"/>
            <a:ext cx="5102352" cy="914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4453128"/>
            <a:ext cx="4773168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테스트용 질문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309360" y="4818888"/>
            <a:ext cx="4773168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“전체 공개가 가능한가?”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불가. 2개 부서 파일럿 후 ACL 검수와 비용 승인까지 거쳐야 함.</a:t>
            </a:r>
            <a:endParaRPr lang="en-US" sz="1240" dirty="0"/>
          </a:p>
        </p:txBody>
      </p:sp>
      <p:sp>
        <p:nvSpPr>
          <p:cNvPr id="37" name="Text 35"/>
          <p:cNvSpPr/>
          <p:nvPr/>
        </p:nvSpPr>
        <p:spPr>
          <a:xfrm>
            <a:off x="8915400" y="6510528"/>
            <a:ext cx="2514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멀티포맷 테스트 자료 | 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LLM Test Set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회의 지식검색용 RAG 시스템 도입안</dc:title>
  <dc:subject>LLM multi-format RAG test data</dc:subject>
  <dc:creator>OpenAI</dc:creator>
  <cp:lastModifiedBy>OpenAI</cp:lastModifiedBy>
  <cp:revision>1</cp:revision>
  <dcterms:created xsi:type="dcterms:W3CDTF">2026-08-10T01:15:49Z</dcterms:created>
  <dcterms:modified xsi:type="dcterms:W3CDTF">2026-08-10T01:15:49Z</dcterms:modified>
</cp:coreProperties>
</file>